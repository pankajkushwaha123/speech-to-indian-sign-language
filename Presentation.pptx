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Playfair Display"/>
      <p:regular r:id="rId17"/>
      <p:bold r:id="rId18"/>
      <p:italic r:id="rId19"/>
      <p:boldItalic r:id="rId20"/>
    </p:embeddedFont>
    <p:embeddedFont>
      <p:font typeface="Playfair Display SemiBold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hHpY2W0TbJRbRzVDEg08GoEv0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Italic.fntdata"/><Relationship Id="rId22" Type="http://schemas.openxmlformats.org/officeDocument/2006/relationships/font" Target="fonts/PlayfairDisplaySemiBold-bold.fntdata"/><Relationship Id="rId21" Type="http://schemas.openxmlformats.org/officeDocument/2006/relationships/font" Target="fonts/PlayfairDisplaySemiBold-regular.fntdata"/><Relationship Id="rId24" Type="http://schemas.openxmlformats.org/officeDocument/2006/relationships/font" Target="fonts/PlayfairDisplaySemiBold-boldItalic.fntdata"/><Relationship Id="rId23" Type="http://schemas.openxmlformats.org/officeDocument/2006/relationships/font" Target="fonts/PlayfairDisplay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regular.fntdata"/><Relationship Id="rId16" Type="http://schemas.openxmlformats.org/officeDocument/2006/relationships/slide" Target="slides/slide11.xml"/><Relationship Id="rId19" Type="http://schemas.openxmlformats.org/officeDocument/2006/relationships/font" Target="fonts/PlayfairDisplay-italic.fntdata"/><Relationship Id="rId18" Type="http://schemas.openxmlformats.org/officeDocument/2006/relationships/font" Target="fonts/PlayfairDis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03d86afe2d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03d86afe2d_1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eceb3421b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2eceb3421b0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03d86afe2d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03d86afe2d_1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03d86afe2d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03d86afe2d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218fb9e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3218fb9eb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03d86afe2d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03d86afe2d_1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03d86afe2d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03d86afe2d_1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vhg.cmp.uea.ac.uk/tech/jas/std/SiGML-Player-gui.htm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data.gov.in/catalog/indian-sign-language-dictionary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"/>
          <p:cNvCxnSpPr/>
          <p:nvPr/>
        </p:nvCxnSpPr>
        <p:spPr>
          <a:xfrm flipH="1" rot="10800000">
            <a:off x="1028706" y="3978224"/>
            <a:ext cx="16230600" cy="3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"/>
          <p:cNvSpPr/>
          <p:nvPr/>
        </p:nvSpPr>
        <p:spPr>
          <a:xfrm>
            <a:off x="3220" y="30584"/>
            <a:ext cx="1082124" cy="1280160"/>
          </a:xfrm>
          <a:custGeom>
            <a:rect b="b" l="l" r="r" t="t"/>
            <a:pathLst>
              <a:path extrusionOk="0" h="1280160" w="1082124">
                <a:moveTo>
                  <a:pt x="0" y="0"/>
                </a:moveTo>
                <a:lnTo>
                  <a:pt x="1082124" y="0"/>
                </a:lnTo>
                <a:lnTo>
                  <a:pt x="1082124" y="1280160"/>
                </a:lnTo>
                <a:lnTo>
                  <a:pt x="0" y="12801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1995150" y="1135025"/>
            <a:ext cx="14297700" cy="26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9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Two-way Speech-Sign Communication Platform</a:t>
            </a:r>
            <a:endParaRPr b="0" i="0" sz="9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5715000" y="103530"/>
            <a:ext cx="7239000" cy="877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Jaypee University Of Engineering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923350" y="8912950"/>
            <a:ext cx="124413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9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DEPARTMENT OF COMPUTER SCIENCE AND ENGINEERING </a:t>
            </a:r>
            <a:endParaRPr b="1" i="0" sz="29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9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JUET GUNA</a:t>
            </a:r>
            <a:endParaRPr b="1" i="0" sz="29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028705" y="4170631"/>
            <a:ext cx="6613200" cy="23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Hrishikesh Bhatt (211B139)</a:t>
            </a:r>
            <a:endParaRPr b="1" i="0" sz="2900" u="none" cap="none" strike="noStrik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Pankaj kumar Kushwaha (211B201)</a:t>
            </a:r>
            <a:endParaRPr b="1" i="0" sz="2900" u="none" cap="none" strike="noStrik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chemeClr val="dk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Shivam Tripathi (211B293)</a:t>
            </a:r>
            <a:endParaRPr b="1" i="0" sz="2900" u="none" cap="none" strike="noStrik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2130100" y="4170625"/>
            <a:ext cx="5280900" cy="17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Major Project 2</a:t>
            </a:r>
            <a:endParaRPr b="0" i="0" sz="48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No.: AKS-3</a:t>
            </a:r>
            <a:endParaRPr b="0" i="0" sz="48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5579550" y="6833625"/>
            <a:ext cx="71289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9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Under the Supervision of:</a:t>
            </a:r>
            <a:endParaRPr b="1" i="0" sz="29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9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Dr. Amit Kumar Srivastava</a:t>
            </a:r>
            <a:endParaRPr b="1" i="0" sz="29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Google Shape;96;p2"/>
          <p:cNvCxnSpPr/>
          <p:nvPr/>
        </p:nvCxnSpPr>
        <p:spPr>
          <a:xfrm flipH="1" rot="10800000">
            <a:off x="1028695" y="1760761"/>
            <a:ext cx="16230594" cy="38509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2"/>
          <p:cNvSpPr txBox="1"/>
          <p:nvPr/>
        </p:nvSpPr>
        <p:spPr>
          <a:xfrm>
            <a:off x="1221914" y="2380365"/>
            <a:ext cx="10489500" cy="6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4000"/>
              <a:buFont typeface="Playfair Display"/>
              <a:buChar char="❏"/>
            </a:pPr>
            <a:r>
              <a:rPr b="0" i="0" lang="en-US" sz="40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Problem Overview</a:t>
            </a:r>
            <a:endParaRPr b="0" i="0" sz="40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4000"/>
              <a:buFont typeface="Playfair Display"/>
              <a:buChar char="❏"/>
            </a:pPr>
            <a:r>
              <a:rPr b="0" i="0" lang="en-US" sz="40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Approach Overview</a:t>
            </a:r>
            <a:endParaRPr b="0" i="0" sz="40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4000"/>
              <a:buFont typeface="Playfair Display"/>
              <a:buChar char="❏"/>
            </a:pPr>
            <a:r>
              <a:rPr b="0" i="0" lang="en-US" sz="40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Literature Survey</a:t>
            </a:r>
            <a:endParaRPr b="0" i="0" sz="40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4000"/>
              <a:buFont typeface="Playfair Display"/>
              <a:buChar char="❏"/>
            </a:pPr>
            <a:r>
              <a:rPr b="0" i="0" lang="en-US" sz="40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 Overview</a:t>
            </a:r>
            <a:endParaRPr b="0" i="0" sz="40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4000"/>
              <a:buFont typeface="Playfair Display"/>
              <a:buChar char="❏"/>
            </a:pPr>
            <a:r>
              <a:rPr b="0" i="0" lang="en-US" sz="40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Tools &amp; Technology</a:t>
            </a:r>
            <a:endParaRPr b="0" i="0" sz="40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4000"/>
              <a:buFont typeface="Playfair Display"/>
              <a:buChar char="❏"/>
            </a:pPr>
            <a:r>
              <a:rPr b="0" i="0" lang="en-US" sz="40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Features &amp; Challenges</a:t>
            </a:r>
            <a:endParaRPr b="0" i="0" sz="40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006871" y="933450"/>
            <a:ext cx="162306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14"/>
              <a:buFont typeface="Arial"/>
              <a:buNone/>
            </a:pPr>
            <a:r>
              <a:rPr b="1" i="0" lang="en-US" sz="4614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Table of Content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/>
        </p:nvSpPr>
        <p:spPr>
          <a:xfrm>
            <a:off x="1028700" y="2333575"/>
            <a:ext cx="16230600" cy="74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4400"/>
              <a:buFont typeface="Playfair Display"/>
              <a:buChar char="●"/>
            </a:pPr>
            <a:r>
              <a:rPr b="1" i="0" lang="en-US" sz="44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Problem:</a:t>
            </a:r>
            <a:r>
              <a:rPr b="0" i="0" lang="en-US" sz="44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Limited tools for two-way communication between speech &amp; hearing-impaired individuals and those who do not know Sign Language (SL).</a:t>
            </a:r>
            <a:endParaRPr b="0" i="0" sz="44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4400"/>
              <a:buFont typeface="Playfair Display"/>
              <a:buChar char="●"/>
            </a:pPr>
            <a:r>
              <a:rPr b="1" i="0" lang="en-US" sz="44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Goal:</a:t>
            </a:r>
            <a:r>
              <a:rPr b="0" i="0" lang="en-US" sz="44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Video conferencing system that enables two-way communication by converting speech to SL animations and sign language gestures to speech/text.</a:t>
            </a:r>
            <a:endParaRPr b="0" i="0" sz="44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04" name="Google Shape;104;p3"/>
          <p:cNvCxnSpPr/>
          <p:nvPr/>
        </p:nvCxnSpPr>
        <p:spPr>
          <a:xfrm flipH="1" rot="10800000">
            <a:off x="1028695" y="1760820"/>
            <a:ext cx="16230600" cy="3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3"/>
          <p:cNvSpPr txBox="1"/>
          <p:nvPr/>
        </p:nvSpPr>
        <p:spPr>
          <a:xfrm>
            <a:off x="1006871" y="933450"/>
            <a:ext cx="16230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599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Problem Overview</a:t>
            </a:r>
            <a:endParaRPr b="1" i="0" sz="4599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Google Shape;110;g303d86afe2d_1_11"/>
          <p:cNvCxnSpPr/>
          <p:nvPr/>
        </p:nvCxnSpPr>
        <p:spPr>
          <a:xfrm flipH="1" rot="10800000">
            <a:off x="1028695" y="1760870"/>
            <a:ext cx="16230600" cy="3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g303d86afe2d_1_11"/>
          <p:cNvSpPr txBox="1"/>
          <p:nvPr/>
        </p:nvSpPr>
        <p:spPr>
          <a:xfrm>
            <a:off x="1006871" y="933450"/>
            <a:ext cx="16230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599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Approach Overview</a:t>
            </a:r>
            <a:endParaRPr b="1" i="0" sz="4599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12" name="Google Shape;112;g303d86afe2d_1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6475" y="1918700"/>
            <a:ext cx="14370258" cy="836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ceb3421b0_0_18"/>
          <p:cNvSpPr txBox="1"/>
          <p:nvPr/>
        </p:nvSpPr>
        <p:spPr>
          <a:xfrm>
            <a:off x="1022557" y="1918695"/>
            <a:ext cx="16242900" cy="83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Monga H. et al.(2021) : 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Proposed a system that converts English audio to text, restructures it using SL grammar, and displays sign language animations.</a:t>
            </a:r>
            <a:endParaRPr b="0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Zecheng L. et al.(2025): 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Proposed a generative pre-training model for sign language translation, unifying ISLR, CSLR, and SLT for improved accuracy. This enhances pose-based gesture recognition and language modeling</a:t>
            </a:r>
            <a:endParaRPr b="0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Khan R. et al.(2023):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Proposed an AI-driven sign language recognition using MediaPipe Holistic, LSTM, Faster R-CNN, and accelerometer-based gloves, achieving up to 98% accuracy.</a:t>
            </a:r>
            <a:endParaRPr b="1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18" name="Google Shape;118;g2eceb3421b0_0_18"/>
          <p:cNvCxnSpPr/>
          <p:nvPr/>
        </p:nvCxnSpPr>
        <p:spPr>
          <a:xfrm flipH="1" rot="10800000">
            <a:off x="1028695" y="1760870"/>
            <a:ext cx="16230600" cy="3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g2eceb3421b0_0_18"/>
          <p:cNvSpPr txBox="1"/>
          <p:nvPr/>
        </p:nvSpPr>
        <p:spPr>
          <a:xfrm>
            <a:off x="1006871" y="933450"/>
            <a:ext cx="16230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rPr b="1" i="0" lang="en-US" sz="4599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03d86afe2d_1_21"/>
          <p:cNvSpPr txBox="1"/>
          <p:nvPr/>
        </p:nvSpPr>
        <p:spPr>
          <a:xfrm>
            <a:off x="1000732" y="1918695"/>
            <a:ext cx="16242900" cy="83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VOSK ToolKit: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Uses deep neural networks and supports multiple languages with low-latency performance.</a:t>
            </a:r>
            <a:endParaRPr b="0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LibriSpeech Dataset</a:t>
            </a:r>
            <a:endParaRPr b="1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Description: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endParaRPr b="0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○"/>
            </a:pP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dataset contains around 1000+ hours of speech data.</a:t>
            </a:r>
            <a:endParaRPr b="0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○"/>
            </a:pP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Created using LibriVox project, which provides free access to recorded audiobooks.</a:t>
            </a:r>
            <a:endParaRPr b="0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Source: 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Facebook AI Research, USA.</a:t>
            </a:r>
            <a:endParaRPr b="0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Purpose: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To train models for recognizing spoken words and phrases.</a:t>
            </a:r>
            <a:endParaRPr b="1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25" name="Google Shape;125;g303d86afe2d_1_21"/>
          <p:cNvCxnSpPr/>
          <p:nvPr/>
        </p:nvCxnSpPr>
        <p:spPr>
          <a:xfrm flipH="1" rot="10800000">
            <a:off x="1028695" y="1760870"/>
            <a:ext cx="16230600" cy="3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g303d86afe2d_1_21"/>
          <p:cNvSpPr txBox="1"/>
          <p:nvPr/>
        </p:nvSpPr>
        <p:spPr>
          <a:xfrm>
            <a:off x="1006871" y="933450"/>
            <a:ext cx="16230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rPr b="1" i="0" lang="en-US" sz="4599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 Overview: Speech-to-Text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03d86afe2d_1_30"/>
          <p:cNvSpPr txBox="1"/>
          <p:nvPr/>
        </p:nvSpPr>
        <p:spPr>
          <a:xfrm>
            <a:off x="1022557" y="2174095"/>
            <a:ext cx="16242900" cy="7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Indian Sign Language Grammar</a:t>
            </a:r>
            <a:endParaRPr b="1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Preprocessing:</a:t>
            </a:r>
            <a:endParaRPr b="1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○"/>
            </a:pP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Lemmatization and stop-word removal using NLTK.</a:t>
            </a:r>
            <a:endParaRPr b="0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○"/>
            </a:pP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terms mapped to ISL grammar.</a:t>
            </a:r>
            <a:endParaRPr b="0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SiGML Files:</a:t>
            </a:r>
            <a:endParaRPr b="1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○"/>
            </a:pP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Represent each ISL word/gesture in animation-friendly format.</a:t>
            </a:r>
            <a:endParaRPr b="1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Purpose: 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 map text to corresponding sign language gestures.</a:t>
            </a:r>
            <a:endParaRPr b="0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Links:</a:t>
            </a:r>
            <a:endParaRPr b="1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○"/>
            </a:pPr>
            <a:r>
              <a:rPr b="0" i="0" lang="en-US" sz="3600" u="sng" cap="none" strike="noStrike">
                <a:solidFill>
                  <a:schemeClr val="hlink"/>
                </a:solidFill>
                <a:latin typeface="Playfair Display"/>
                <a:ea typeface="Playfair Display"/>
                <a:cs typeface="Playfair Display"/>
                <a:sym typeface="Playfair Display"/>
                <a:hlinkClick r:id="rId3"/>
              </a:rPr>
              <a:t>https://vhg.cmp.uea.ac.uk/tech/jas/std/SiGML-Player-gui.html</a:t>
            </a:r>
            <a:endParaRPr b="0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32" name="Google Shape;132;g303d86afe2d_1_30"/>
          <p:cNvCxnSpPr/>
          <p:nvPr/>
        </p:nvCxnSpPr>
        <p:spPr>
          <a:xfrm flipH="1" rot="10800000">
            <a:off x="1028695" y="1760870"/>
            <a:ext cx="16230600" cy="3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g303d86afe2d_1_30"/>
          <p:cNvSpPr txBox="1"/>
          <p:nvPr/>
        </p:nvSpPr>
        <p:spPr>
          <a:xfrm>
            <a:off x="1006871" y="933450"/>
            <a:ext cx="16230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rPr b="1" i="0" lang="en-US" sz="4599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 Overview: Text-to-ISL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g33218fb9eb5_0_0"/>
          <p:cNvCxnSpPr/>
          <p:nvPr/>
        </p:nvCxnSpPr>
        <p:spPr>
          <a:xfrm flipH="1" rot="10800000">
            <a:off x="1028695" y="1760870"/>
            <a:ext cx="16230600" cy="3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g33218fb9eb5_0_0"/>
          <p:cNvSpPr txBox="1"/>
          <p:nvPr/>
        </p:nvSpPr>
        <p:spPr>
          <a:xfrm>
            <a:off x="1006871" y="933450"/>
            <a:ext cx="16230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rPr b="1" i="0" lang="en-US" sz="4599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 Overview: SL-to-Text/Speech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3218fb9eb5_0_0"/>
          <p:cNvSpPr txBox="1"/>
          <p:nvPr/>
        </p:nvSpPr>
        <p:spPr>
          <a:xfrm>
            <a:off x="1022557" y="2676920"/>
            <a:ext cx="16242900" cy="7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MediaPipe + LSTM for Gesture Recognition</a:t>
            </a:r>
            <a:endParaRPr b="1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Function: 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Captures and analyzes hand landmarks to recognize Indian Sign Language (ISL) gestures and convert them into meaningful text.</a:t>
            </a:r>
            <a:endParaRPr b="0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Technical Approach: 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Uses MediaPipe Holistic for real-time hand landmark detection and an LSTM-based deep learning model to process time-series gesture sequences for accurate classification.</a:t>
            </a:r>
            <a:endParaRPr b="0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Dataset: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Indian Sign Language Dataset </a:t>
            </a:r>
            <a:r>
              <a:rPr b="0" i="0" lang="en-US" sz="3600" u="sng" cap="none" strike="noStrike">
                <a:solidFill>
                  <a:schemeClr val="hlink"/>
                </a:solidFill>
                <a:latin typeface="Playfair Display"/>
                <a:ea typeface="Playfair Display"/>
                <a:cs typeface="Playfair Display"/>
                <a:sym typeface="Playfair Display"/>
                <a:hlinkClick r:id="rId3"/>
              </a:rPr>
              <a:t>https://www.data.gov.in/catalog/indian-sign-language-dictionary</a:t>
            </a:r>
            <a:endParaRPr b="0" i="0" sz="35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Open-Source TTS: 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Generates realistic speech output from text in real-time.</a:t>
            </a:r>
            <a:endParaRPr b="0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Google Shape;145;g303d86afe2d_1_41"/>
          <p:cNvCxnSpPr/>
          <p:nvPr/>
        </p:nvCxnSpPr>
        <p:spPr>
          <a:xfrm flipH="1" rot="10800000">
            <a:off x="1028695" y="1760870"/>
            <a:ext cx="16230600" cy="3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g303d86afe2d_1_41"/>
          <p:cNvSpPr txBox="1"/>
          <p:nvPr/>
        </p:nvSpPr>
        <p:spPr>
          <a:xfrm>
            <a:off x="1006871" y="933450"/>
            <a:ext cx="16230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599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Tools &amp; Technology</a:t>
            </a:r>
            <a:endParaRPr b="1" i="0" sz="4599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7" name="Google Shape;147;g303d86afe2d_1_41"/>
          <p:cNvSpPr txBox="1"/>
          <p:nvPr/>
        </p:nvSpPr>
        <p:spPr>
          <a:xfrm>
            <a:off x="1022557" y="1975195"/>
            <a:ext cx="16242900" cy="77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Flask</a:t>
            </a:r>
            <a:r>
              <a:rPr b="1" lang="en-US" sz="360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&amp; Next</a:t>
            </a: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Js: 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Backend framework for API development</a:t>
            </a:r>
            <a:endParaRPr sz="3600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lang="en-US" sz="360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WebRTC &amp; Socket.IO: </a:t>
            </a:r>
            <a:r>
              <a:rPr lang="en-US" sz="360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eal-time </a:t>
            </a:r>
            <a:r>
              <a:rPr lang="en-US" sz="360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communication and transmission</a:t>
            </a:r>
            <a:endParaRPr sz="3600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lang="en-US" sz="360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VOSK Toolkit: </a:t>
            </a:r>
            <a:r>
              <a:rPr lang="en-US" sz="360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Speech Recognition</a:t>
            </a:r>
            <a:endParaRPr sz="3600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lang="en-US" sz="360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NPM Modules</a:t>
            </a:r>
            <a:r>
              <a:rPr lang="en-US" sz="360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for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lemmatization </a:t>
            </a:r>
            <a:r>
              <a:rPr lang="en-US" sz="360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and stop word removal</a:t>
            </a:r>
            <a:endParaRPr b="0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Machine Learning Frameworks: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TensorFlow</a:t>
            </a:r>
            <a:r>
              <a:rPr lang="en-US" sz="360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, LSTM</a:t>
            </a:r>
            <a:endParaRPr b="0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Mediapipe 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for Gesture Recognition</a:t>
            </a:r>
            <a:endParaRPr b="0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SiGML Player</a:t>
            </a:r>
            <a:endParaRPr b="1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" name="Google Shape;152;g303d86afe2d_1_47"/>
          <p:cNvCxnSpPr/>
          <p:nvPr/>
        </p:nvCxnSpPr>
        <p:spPr>
          <a:xfrm flipH="1" rot="10800000">
            <a:off x="1028695" y="1760870"/>
            <a:ext cx="16230600" cy="3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g303d86afe2d_1_47"/>
          <p:cNvSpPr txBox="1"/>
          <p:nvPr/>
        </p:nvSpPr>
        <p:spPr>
          <a:xfrm>
            <a:off x="1006871" y="933450"/>
            <a:ext cx="16230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182880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rPr b="1" i="0" lang="en-US" sz="4599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Features															Challenges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03d86afe2d_1_47"/>
          <p:cNvSpPr txBox="1"/>
          <p:nvPr/>
        </p:nvSpPr>
        <p:spPr>
          <a:xfrm>
            <a:off x="10396200" y="2229450"/>
            <a:ext cx="7891800" cy="7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Dataset Limitations: 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Dependence on the quality and diversity of datasets affect model performance.</a:t>
            </a:r>
            <a:endParaRPr b="0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Complexity of Sign Language: 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Nuances in sign language leading to potential misinterpretations.</a:t>
            </a:r>
            <a:endParaRPr b="0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Resource Intensive: 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Requires significant computational resources for training models and processing.</a:t>
            </a:r>
            <a:endParaRPr b="1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55" name="Google Shape;155;g303d86afe2d_1_47"/>
          <p:cNvSpPr txBox="1"/>
          <p:nvPr/>
        </p:nvSpPr>
        <p:spPr>
          <a:xfrm>
            <a:off x="626100" y="2229450"/>
            <a:ext cx="7891800" cy="80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Enhanced Communication: 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Bridges the gap between sign language users and non-signers.</a:t>
            </a:r>
            <a:endParaRPr b="0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Multimodal Communication: 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Supports speech, text, and sign language, ensuring accessibility for all users.</a:t>
            </a:r>
            <a:endParaRPr b="0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2C30"/>
              </a:buClr>
              <a:buSzPts val="3600"/>
              <a:buFont typeface="Playfair Display"/>
              <a:buChar char="●"/>
            </a:pPr>
            <a:r>
              <a:rPr b="1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Utilizes Open Datasets: </a:t>
            </a:r>
            <a:r>
              <a:rPr b="0" i="0" lang="en-US" sz="3600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Leverages existing resources for improved model training.</a:t>
            </a:r>
            <a:endParaRPr b="0" i="0" sz="3600" u="none" cap="none" strike="noStrike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15"/>
          <p:cNvCxnSpPr/>
          <p:nvPr/>
        </p:nvCxnSpPr>
        <p:spPr>
          <a:xfrm flipH="1" rot="10800000">
            <a:off x="1028706" y="4514765"/>
            <a:ext cx="16230594" cy="38509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15"/>
          <p:cNvSpPr txBox="1"/>
          <p:nvPr/>
        </p:nvSpPr>
        <p:spPr>
          <a:xfrm>
            <a:off x="850974" y="2332416"/>
            <a:ext cx="16408332" cy="2084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1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58"/>
              <a:buFont typeface="Arial"/>
              <a:buNone/>
            </a:pPr>
            <a:r>
              <a:rPr b="0" i="0" lang="en-US" sz="16758" u="none" cap="none" strike="noStrike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